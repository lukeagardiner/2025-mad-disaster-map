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100" d="100"/>
          <a:sy n="100" d="100"/>
        </p:scale>
        <p:origin x="990" y="2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2940E-873B-6EF7-C110-8F0D58CE9A5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3DBCBC34-B286-9C15-42AE-C0A6EFB1A0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86114B1D-19B0-CAB0-DF1B-081EC8B5DFD6}"/>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5" name="Footer Placeholder 4">
            <a:extLst>
              <a:ext uri="{FF2B5EF4-FFF2-40B4-BE49-F238E27FC236}">
                <a16:creationId xmlns:a16="http://schemas.microsoft.com/office/drawing/2014/main" id="{5D0BC12A-3FA5-AA49-7834-4FF33F7ADA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AA8FE6D-AF33-D14C-93A6-3119F80CC9C0}"/>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4229711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78F23-BF6A-5995-AED0-4FA28DC66244}"/>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59257488-7906-7044-5A9E-DF07956A30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CCCCD1E-6ED6-4704-A718-9B6551CAF01B}"/>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5" name="Footer Placeholder 4">
            <a:extLst>
              <a:ext uri="{FF2B5EF4-FFF2-40B4-BE49-F238E27FC236}">
                <a16:creationId xmlns:a16="http://schemas.microsoft.com/office/drawing/2014/main" id="{6E048227-B12F-D646-668E-248DCF86D33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A8D4F56-ADAE-E614-9757-ECF01884F2CD}"/>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3147370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39EB5-7B4C-1CA7-937A-419A985ABC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E9A8AF3D-F24A-5463-F505-3D0D2480429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A808F61-9FAD-F6DA-BCF8-0A9DDA9A1998}"/>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5" name="Footer Placeholder 4">
            <a:extLst>
              <a:ext uri="{FF2B5EF4-FFF2-40B4-BE49-F238E27FC236}">
                <a16:creationId xmlns:a16="http://schemas.microsoft.com/office/drawing/2014/main" id="{B080F470-C33C-8FCC-01B9-42DC2A812F3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F5CEF80-7B91-3F99-00D8-62598F04B5E4}"/>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28699907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A0BF2-CF3B-46D0-42A8-A5C6A194F06D}"/>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5284E023-D583-5483-C486-B23642FED1F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B673B516-D0A7-27A7-DF17-7316D7BA3B5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8455F5CC-4AC0-2FAC-ABDE-D2FF5C6E67BF}"/>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6" name="Footer Placeholder 5">
            <a:extLst>
              <a:ext uri="{FF2B5EF4-FFF2-40B4-BE49-F238E27FC236}">
                <a16:creationId xmlns:a16="http://schemas.microsoft.com/office/drawing/2014/main" id="{FEA7451C-09F9-0010-EBC0-B9DC5D598AE0}"/>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F8B09E5-0711-28B9-741A-C98AE307DF8C}"/>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26490894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9EB89-320E-1145-E4A2-8808DAB62FAF}"/>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06A413B0-EA92-7579-2474-EE264849E0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3D071C4-5ABF-C55E-EB93-05B29146AE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A345848-2C8D-3418-C0BA-CB17F35645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DDEE26-42E5-59F0-04A2-CAD2C120131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252B38C-DD32-35E5-BF83-91145E742035}"/>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8" name="Footer Placeholder 7">
            <a:extLst>
              <a:ext uri="{FF2B5EF4-FFF2-40B4-BE49-F238E27FC236}">
                <a16:creationId xmlns:a16="http://schemas.microsoft.com/office/drawing/2014/main" id="{05726A5C-F806-46F9-7FA4-99693A66E203}"/>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BBF7C6BC-A895-CD6D-539F-49A9CB1269A7}"/>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13565182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2888D-DD38-512C-2EC6-052018AFD7F2}"/>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943DBBD0-BFBC-FBEB-27B2-317BF3CBED04}"/>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4" name="Footer Placeholder 3">
            <a:extLst>
              <a:ext uri="{FF2B5EF4-FFF2-40B4-BE49-F238E27FC236}">
                <a16:creationId xmlns:a16="http://schemas.microsoft.com/office/drawing/2014/main" id="{06A710EE-9903-98E7-4F8C-C7DD1B610DAA}"/>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E6ABE2A-08CA-8CED-52CB-72760E966931}"/>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3744294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13587FF-8CE0-791E-C5EA-0DBE52E92158}"/>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3" name="Footer Placeholder 2">
            <a:extLst>
              <a:ext uri="{FF2B5EF4-FFF2-40B4-BE49-F238E27FC236}">
                <a16:creationId xmlns:a16="http://schemas.microsoft.com/office/drawing/2014/main" id="{FF153050-5AF9-4A24-9EF8-036A3F23D324}"/>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FA8DCA-F242-8480-4DD5-5B59D2FC496B}"/>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26096532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910B33-BE75-D438-016E-A4277F5D50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FBF45351-88F3-9D48-C0A1-0C11AC7C4D5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244A3B7-8456-953E-4447-799471A23C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94B81CC-D9EB-78E0-C67E-3E21CBE88EB6}"/>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6" name="Footer Placeholder 5">
            <a:extLst>
              <a:ext uri="{FF2B5EF4-FFF2-40B4-BE49-F238E27FC236}">
                <a16:creationId xmlns:a16="http://schemas.microsoft.com/office/drawing/2014/main" id="{A5DE166B-7B44-6C54-3760-65C3D61978E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7CDB2A3-6A0B-76CF-8CE9-A91ADF523932}"/>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1722777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E12DC-BA31-11C4-A074-2CD0BDBB53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67CE26E5-A505-5346-984A-830F9C660B4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0B5CFCD7-C807-D1CB-4FE6-D3A60CB462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6837A2-CB5B-538B-1C97-7C0FB10393E7}"/>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6" name="Footer Placeholder 5">
            <a:extLst>
              <a:ext uri="{FF2B5EF4-FFF2-40B4-BE49-F238E27FC236}">
                <a16:creationId xmlns:a16="http://schemas.microsoft.com/office/drawing/2014/main" id="{7BC8E03C-ADCF-8641-3661-8CAD9BDDC6D9}"/>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C975DC3-B42A-71FA-A819-813A55037025}"/>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27342616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7A913-ED7A-2BFF-3C80-65578E224706}"/>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92700A12-A1AC-26E0-AAE6-16F31DDC1FB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ED53795-C3CD-9881-67A4-31A42EEEFF50}"/>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5" name="Footer Placeholder 4">
            <a:extLst>
              <a:ext uri="{FF2B5EF4-FFF2-40B4-BE49-F238E27FC236}">
                <a16:creationId xmlns:a16="http://schemas.microsoft.com/office/drawing/2014/main" id="{AAB9CC48-E07C-BD63-B420-9B095F75870B}"/>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741405F9-3FE1-DBB7-2934-AAE21A5C2BE0}"/>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1370223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1793C18-DFBB-063B-0DF1-AB31DAA5523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94C8D5E3-2FFE-2989-44E7-B0C993A0790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7164730B-9F16-B569-0789-98D3F25F76D7}"/>
              </a:ext>
            </a:extLst>
          </p:cNvPr>
          <p:cNvSpPr>
            <a:spLocks noGrp="1"/>
          </p:cNvSpPr>
          <p:nvPr>
            <p:ph type="dt" sz="half" idx="10"/>
          </p:nvPr>
        </p:nvSpPr>
        <p:spPr/>
        <p:txBody>
          <a:bodyPr/>
          <a:lstStyle/>
          <a:p>
            <a:fld id="{FA94A02A-306A-42E7-B38C-2A6E79E1D15A}" type="datetimeFigureOut">
              <a:rPr lang="en-AU" smtClean="0"/>
              <a:t>29/05/2025</a:t>
            </a:fld>
            <a:endParaRPr lang="en-AU"/>
          </a:p>
        </p:txBody>
      </p:sp>
      <p:sp>
        <p:nvSpPr>
          <p:cNvPr id="5" name="Footer Placeholder 4">
            <a:extLst>
              <a:ext uri="{FF2B5EF4-FFF2-40B4-BE49-F238E27FC236}">
                <a16:creationId xmlns:a16="http://schemas.microsoft.com/office/drawing/2014/main" id="{3F055DB4-8F4D-CCE1-10CF-F4820DACD4A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D33C945-C67C-AC6A-72B7-9BB1DAC233E8}"/>
              </a:ext>
            </a:extLst>
          </p:cNvPr>
          <p:cNvSpPr>
            <a:spLocks noGrp="1"/>
          </p:cNvSpPr>
          <p:nvPr>
            <p:ph type="sldNum" sz="quarter" idx="12"/>
          </p:nvPr>
        </p:nvSpPr>
        <p:spPr/>
        <p:txBody>
          <a:bodyPr/>
          <a:lstStyle/>
          <a:p>
            <a:fld id="{93F310ED-E62A-4A0E-B4CC-ABABD82060F7}" type="slidenum">
              <a:rPr lang="en-AU" smtClean="0"/>
              <a:t>‹#›</a:t>
            </a:fld>
            <a:endParaRPr lang="en-AU"/>
          </a:p>
        </p:txBody>
      </p:sp>
    </p:spTree>
    <p:extLst>
      <p:ext uri="{BB962C8B-B14F-4D97-AF65-F5344CB8AC3E}">
        <p14:creationId xmlns:p14="http://schemas.microsoft.com/office/powerpoint/2010/main" val="1884166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548FB6-D34F-2C26-543E-9E7162E9B5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6D90102-431B-0FAB-8589-4962E640DA5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4C30870-47A9-2EBE-4954-07034F6BAE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A94A02A-306A-42E7-B38C-2A6E79E1D15A}" type="datetimeFigureOut">
              <a:rPr lang="en-AU" smtClean="0"/>
              <a:t>29/05/2025</a:t>
            </a:fld>
            <a:endParaRPr lang="en-AU"/>
          </a:p>
        </p:txBody>
      </p:sp>
      <p:sp>
        <p:nvSpPr>
          <p:cNvPr id="5" name="Footer Placeholder 4">
            <a:extLst>
              <a:ext uri="{FF2B5EF4-FFF2-40B4-BE49-F238E27FC236}">
                <a16:creationId xmlns:a16="http://schemas.microsoft.com/office/drawing/2014/main" id="{279C21CF-D03E-03BC-C86A-B6AF8B553BC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92E58920-F7B7-54F8-F21E-22192B429F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3F310ED-E62A-4A0E-B4CC-ABABD82060F7}" type="slidenum">
              <a:rPr lang="en-AU" smtClean="0"/>
              <a:t>‹#›</a:t>
            </a:fld>
            <a:endParaRPr lang="en-AU"/>
          </a:p>
        </p:txBody>
      </p:sp>
    </p:spTree>
    <p:extLst>
      <p:ext uri="{BB962C8B-B14F-4D97-AF65-F5344CB8AC3E}">
        <p14:creationId xmlns:p14="http://schemas.microsoft.com/office/powerpoint/2010/main" val="19159426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0" name="Picture 6" descr="⛈️ SEVERE STORM BRINGS FLASH FLOODING - #NEWCASTLE AREA - 6:40PM, Wednesday  30th April A severe storm has impacted the Newcastle and Hunter region this  afternoon, resulting in significant flash flooding across">
            <a:extLst>
              <a:ext uri="{FF2B5EF4-FFF2-40B4-BE49-F238E27FC236}">
                <a16:creationId xmlns:a16="http://schemas.microsoft.com/office/drawing/2014/main" id="{445C3104-AD31-4505-1171-164EB9E1EA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5996" y="453239"/>
            <a:ext cx="2173220" cy="271382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Death toll rises to three as NSW floods hammer Mid North Coast - ABC News">
            <a:extLst>
              <a:ext uri="{FF2B5EF4-FFF2-40B4-BE49-F238E27FC236}">
                <a16:creationId xmlns:a16="http://schemas.microsoft.com/office/drawing/2014/main" id="{94FA7E5F-2DBF-F6F8-32D4-275375F816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25" y="3690939"/>
            <a:ext cx="5053296" cy="2843212"/>
          </a:xfrm>
          <a:prstGeom prst="rect">
            <a:avLst/>
          </a:prstGeom>
          <a:noFill/>
          <a:extLst>
            <a:ext uri="{909E8E84-426E-40DD-AFC4-6F175D3DCCD1}">
              <a14:hiddenFill xmlns:a14="http://schemas.microsoft.com/office/drawing/2010/main">
                <a:solidFill>
                  <a:srgbClr val="FFFFFF"/>
                </a:solidFill>
              </a14:hiddenFill>
            </a:ext>
          </a:extLst>
        </p:spPr>
      </p:pic>
      <p:sp>
        <p:nvSpPr>
          <p:cNvPr id="4" name="Cloud 3">
            <a:extLst>
              <a:ext uri="{FF2B5EF4-FFF2-40B4-BE49-F238E27FC236}">
                <a16:creationId xmlns:a16="http://schemas.microsoft.com/office/drawing/2014/main" id="{54A25444-AF9D-0465-313A-3273AF85D5D3}"/>
              </a:ext>
            </a:extLst>
          </p:cNvPr>
          <p:cNvSpPr/>
          <p:nvPr/>
        </p:nvSpPr>
        <p:spPr>
          <a:xfrm>
            <a:off x="0" y="2752915"/>
            <a:ext cx="2593063" cy="1445442"/>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May 2025 Newcastle-Mid North Coast Floods</a:t>
            </a:r>
          </a:p>
        </p:txBody>
      </p:sp>
      <p:sp>
        <p:nvSpPr>
          <p:cNvPr id="5" name="Speech Bubble: Rectangle 4">
            <a:extLst>
              <a:ext uri="{FF2B5EF4-FFF2-40B4-BE49-F238E27FC236}">
                <a16:creationId xmlns:a16="http://schemas.microsoft.com/office/drawing/2014/main" id="{2730DF34-2086-9D48-B211-E99499482C36}"/>
              </a:ext>
            </a:extLst>
          </p:cNvPr>
          <p:cNvSpPr/>
          <p:nvPr/>
        </p:nvSpPr>
        <p:spPr>
          <a:xfrm>
            <a:off x="2801089" y="1736613"/>
            <a:ext cx="2414132" cy="1430448"/>
          </a:xfrm>
          <a:prstGeom prst="wedgeRect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“I’ve been driving around for 7 hours trying to find a way north and all the navigational apps have been wrong” – (Post seen on Facebook)</a:t>
            </a:r>
          </a:p>
        </p:txBody>
      </p:sp>
      <p:sp>
        <p:nvSpPr>
          <p:cNvPr id="6" name="Rectangle 5">
            <a:extLst>
              <a:ext uri="{FF2B5EF4-FFF2-40B4-BE49-F238E27FC236}">
                <a16:creationId xmlns:a16="http://schemas.microsoft.com/office/drawing/2014/main" id="{E353CE8A-AB30-5564-F2BD-EECE9DC351D1}"/>
              </a:ext>
            </a:extLst>
          </p:cNvPr>
          <p:cNvSpPr/>
          <p:nvPr/>
        </p:nvSpPr>
        <p:spPr>
          <a:xfrm>
            <a:off x="3708775" y="323849"/>
            <a:ext cx="4019739" cy="8078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3000" dirty="0"/>
              <a:t>Disaster Map</a:t>
            </a:r>
          </a:p>
        </p:txBody>
      </p:sp>
      <p:sp>
        <p:nvSpPr>
          <p:cNvPr id="7" name="Rectangle: Rounded Corners 6">
            <a:extLst>
              <a:ext uri="{FF2B5EF4-FFF2-40B4-BE49-F238E27FC236}">
                <a16:creationId xmlns:a16="http://schemas.microsoft.com/office/drawing/2014/main" id="{A952360B-AA0A-B99E-A742-05502A9FBCB4}"/>
              </a:ext>
            </a:extLst>
          </p:cNvPr>
          <p:cNvSpPr/>
          <p:nvPr/>
        </p:nvSpPr>
        <p:spPr>
          <a:xfrm>
            <a:off x="8030425" y="1159505"/>
            <a:ext cx="3595580" cy="159341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600" b="1" u="sng" dirty="0"/>
              <a:t>Concept:</a:t>
            </a:r>
            <a:r>
              <a:rPr lang="en-AU" sz="1400" dirty="0"/>
              <a:t> During major weather events, users can view, and report hazards they have witnessed including exact locations, descriptions and images to go with it. </a:t>
            </a:r>
          </a:p>
        </p:txBody>
      </p:sp>
      <p:sp>
        <p:nvSpPr>
          <p:cNvPr id="8" name="Rectangle: Rounded Corners 7">
            <a:extLst>
              <a:ext uri="{FF2B5EF4-FFF2-40B4-BE49-F238E27FC236}">
                <a16:creationId xmlns:a16="http://schemas.microsoft.com/office/drawing/2014/main" id="{52C01278-3E2A-2FA0-8E59-305F6A29AAF0}"/>
              </a:ext>
            </a:extLst>
          </p:cNvPr>
          <p:cNvSpPr/>
          <p:nvPr/>
        </p:nvSpPr>
        <p:spPr>
          <a:xfrm>
            <a:off x="9334124" y="4105086"/>
            <a:ext cx="2390114" cy="181588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600" b="1" u="sng" dirty="0"/>
              <a:t>Target Customers:</a:t>
            </a:r>
          </a:p>
          <a:p>
            <a:pPr marL="285750" indent="-285750" algn="ctr">
              <a:buFontTx/>
              <a:buChar char="-"/>
            </a:pPr>
            <a:r>
              <a:rPr lang="en-AU" sz="1400" dirty="0"/>
              <a:t>Commuters</a:t>
            </a:r>
          </a:p>
          <a:p>
            <a:pPr marL="285750" indent="-285750" algn="ctr">
              <a:buFontTx/>
              <a:buChar char="-"/>
            </a:pPr>
            <a:r>
              <a:rPr lang="en-AU" sz="1400" dirty="0"/>
              <a:t>Travellers</a:t>
            </a:r>
          </a:p>
          <a:p>
            <a:pPr marL="285750" indent="-285750" algn="ctr">
              <a:buFontTx/>
              <a:buChar char="-"/>
            </a:pPr>
            <a:r>
              <a:rPr lang="en-AU" sz="1400" dirty="0"/>
              <a:t>Logistics Companies</a:t>
            </a:r>
          </a:p>
          <a:p>
            <a:pPr marL="285750" indent="-285750" algn="ctr">
              <a:buFontTx/>
              <a:buChar char="-"/>
            </a:pPr>
            <a:r>
              <a:rPr lang="en-AU" sz="1400" dirty="0"/>
              <a:t>Government Agencies</a:t>
            </a:r>
          </a:p>
          <a:p>
            <a:pPr marL="285750" indent="-285750" algn="ctr">
              <a:buFontTx/>
              <a:buChar char="-"/>
            </a:pPr>
            <a:r>
              <a:rPr lang="en-AU" sz="1400" dirty="0"/>
              <a:t>SES</a:t>
            </a:r>
          </a:p>
        </p:txBody>
      </p:sp>
      <p:sp>
        <p:nvSpPr>
          <p:cNvPr id="9" name="Rectangle: Rounded Corners 8">
            <a:extLst>
              <a:ext uri="{FF2B5EF4-FFF2-40B4-BE49-F238E27FC236}">
                <a16:creationId xmlns:a16="http://schemas.microsoft.com/office/drawing/2014/main" id="{ED847631-9825-C933-5C77-A1E25AE5A169}"/>
              </a:ext>
            </a:extLst>
          </p:cNvPr>
          <p:cNvSpPr/>
          <p:nvPr/>
        </p:nvSpPr>
        <p:spPr>
          <a:xfrm>
            <a:off x="5377146" y="4105086"/>
            <a:ext cx="3595580" cy="225718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600" b="1" u="sng" dirty="0"/>
              <a:t>Solving the issue</a:t>
            </a:r>
          </a:p>
          <a:p>
            <a:pPr algn="ctr"/>
            <a:r>
              <a:rPr lang="en-AU" sz="1400" dirty="0"/>
              <a:t>The Disaster Map can provide users of the road with vital information before starting their commute. Unlike navigational apps, users can identify the roads that are blocked due to flooding, fallen trees etc.</a:t>
            </a:r>
          </a:p>
        </p:txBody>
      </p:sp>
    </p:spTree>
    <p:extLst>
      <p:ext uri="{BB962C8B-B14F-4D97-AF65-F5344CB8AC3E}">
        <p14:creationId xmlns:p14="http://schemas.microsoft.com/office/powerpoint/2010/main" val="29082540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64922C0-2345-5174-C78F-166145D40381}"/>
              </a:ext>
            </a:extLst>
          </p:cNvPr>
          <p:cNvSpPr/>
          <p:nvPr/>
        </p:nvSpPr>
        <p:spPr>
          <a:xfrm>
            <a:off x="3490685" y="355657"/>
            <a:ext cx="4590107" cy="814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User Story: As a user who lives in Newcastle, I want to travel north to Forster. I want to check if there are any hazards along the way.</a:t>
            </a:r>
          </a:p>
        </p:txBody>
      </p:sp>
      <p:pic>
        <p:nvPicPr>
          <p:cNvPr id="6" name="Picture 5">
            <a:extLst>
              <a:ext uri="{FF2B5EF4-FFF2-40B4-BE49-F238E27FC236}">
                <a16:creationId xmlns:a16="http://schemas.microsoft.com/office/drawing/2014/main" id="{7D409BFA-6F38-0236-87C8-A8B54208C332}"/>
              </a:ext>
            </a:extLst>
          </p:cNvPr>
          <p:cNvPicPr>
            <a:picLocks noChangeAspect="1"/>
          </p:cNvPicPr>
          <p:nvPr/>
        </p:nvPicPr>
        <p:blipFill>
          <a:blip r:embed="rId2"/>
          <a:stretch>
            <a:fillRect/>
          </a:stretch>
        </p:blipFill>
        <p:spPr>
          <a:xfrm>
            <a:off x="344031" y="1978282"/>
            <a:ext cx="2027976" cy="4226849"/>
          </a:xfrm>
          <a:prstGeom prst="rect">
            <a:avLst/>
          </a:prstGeom>
        </p:spPr>
      </p:pic>
      <p:sp>
        <p:nvSpPr>
          <p:cNvPr id="7" name="Rectangle 6">
            <a:extLst>
              <a:ext uri="{FF2B5EF4-FFF2-40B4-BE49-F238E27FC236}">
                <a16:creationId xmlns:a16="http://schemas.microsoft.com/office/drawing/2014/main" id="{6E346245-FB71-119F-9C82-D307D6D10966}"/>
              </a:ext>
            </a:extLst>
          </p:cNvPr>
          <p:cNvSpPr/>
          <p:nvPr/>
        </p:nvSpPr>
        <p:spPr>
          <a:xfrm>
            <a:off x="344032" y="1403287"/>
            <a:ext cx="1665743" cy="530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dirty="0"/>
              <a:t>Upon loading the app, a hazard appears within 50km radius of my location</a:t>
            </a:r>
          </a:p>
        </p:txBody>
      </p:sp>
      <p:cxnSp>
        <p:nvCxnSpPr>
          <p:cNvPr id="11" name="Straight Arrow Connector 10">
            <a:extLst>
              <a:ext uri="{FF2B5EF4-FFF2-40B4-BE49-F238E27FC236}">
                <a16:creationId xmlns:a16="http://schemas.microsoft.com/office/drawing/2014/main" id="{972B5FC9-FFF0-7135-BEC3-BEE4CC15AAE7}"/>
              </a:ext>
            </a:extLst>
          </p:cNvPr>
          <p:cNvCxnSpPr>
            <a:cxnSpLocks/>
          </p:cNvCxnSpPr>
          <p:nvPr/>
        </p:nvCxnSpPr>
        <p:spPr>
          <a:xfrm>
            <a:off x="672786" y="1933575"/>
            <a:ext cx="685233" cy="205740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47385EFE-D98F-56D8-016B-A56D3A1A1B55}"/>
              </a:ext>
            </a:extLst>
          </p:cNvPr>
          <p:cNvSpPr/>
          <p:nvPr/>
        </p:nvSpPr>
        <p:spPr>
          <a:xfrm>
            <a:off x="344031" y="6274370"/>
            <a:ext cx="1781175" cy="4762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dirty="0"/>
              <a:t>User can click the hazard icon to see the hazard details</a:t>
            </a:r>
          </a:p>
        </p:txBody>
      </p:sp>
      <p:cxnSp>
        <p:nvCxnSpPr>
          <p:cNvPr id="17" name="Straight Arrow Connector 16">
            <a:extLst>
              <a:ext uri="{FF2B5EF4-FFF2-40B4-BE49-F238E27FC236}">
                <a16:creationId xmlns:a16="http://schemas.microsoft.com/office/drawing/2014/main" id="{B596E924-03AE-EB2E-CEE0-24CCD0CA5418}"/>
              </a:ext>
            </a:extLst>
          </p:cNvPr>
          <p:cNvCxnSpPr/>
          <p:nvPr/>
        </p:nvCxnSpPr>
        <p:spPr>
          <a:xfrm flipV="1">
            <a:off x="1358019" y="4091706"/>
            <a:ext cx="80256" cy="21826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Picture 18">
            <a:extLst>
              <a:ext uri="{FF2B5EF4-FFF2-40B4-BE49-F238E27FC236}">
                <a16:creationId xmlns:a16="http://schemas.microsoft.com/office/drawing/2014/main" id="{6E813A37-78F6-0F99-DBCC-27DA19E671DF}"/>
              </a:ext>
            </a:extLst>
          </p:cNvPr>
          <p:cNvPicPr>
            <a:picLocks noChangeAspect="1"/>
          </p:cNvPicPr>
          <p:nvPr/>
        </p:nvPicPr>
        <p:blipFill>
          <a:blip r:embed="rId3"/>
          <a:stretch>
            <a:fillRect/>
          </a:stretch>
        </p:blipFill>
        <p:spPr>
          <a:xfrm>
            <a:off x="2707705" y="1962150"/>
            <a:ext cx="2027975" cy="4226849"/>
          </a:xfrm>
          <a:prstGeom prst="rect">
            <a:avLst/>
          </a:prstGeom>
        </p:spPr>
      </p:pic>
      <p:sp>
        <p:nvSpPr>
          <p:cNvPr id="20" name="Rectangle 19">
            <a:extLst>
              <a:ext uri="{FF2B5EF4-FFF2-40B4-BE49-F238E27FC236}">
                <a16:creationId xmlns:a16="http://schemas.microsoft.com/office/drawing/2014/main" id="{185B9085-6782-2FD9-653B-90F3FAFD2D10}"/>
              </a:ext>
            </a:extLst>
          </p:cNvPr>
          <p:cNvSpPr/>
          <p:nvPr/>
        </p:nvSpPr>
        <p:spPr>
          <a:xfrm>
            <a:off x="2935808" y="6235496"/>
            <a:ext cx="1425474" cy="4762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dirty="0"/>
              <a:t>User can mark the hazard if it’s still there </a:t>
            </a:r>
          </a:p>
        </p:txBody>
      </p:sp>
      <p:cxnSp>
        <p:nvCxnSpPr>
          <p:cNvPr id="22" name="Straight Arrow Connector 21">
            <a:extLst>
              <a:ext uri="{FF2B5EF4-FFF2-40B4-BE49-F238E27FC236}">
                <a16:creationId xmlns:a16="http://schemas.microsoft.com/office/drawing/2014/main" id="{F6636963-75A5-A5EA-545B-826B2B3DD0D0}"/>
              </a:ext>
            </a:extLst>
          </p:cNvPr>
          <p:cNvCxnSpPr>
            <a:cxnSpLocks/>
            <a:stCxn id="20" idx="0"/>
          </p:cNvCxnSpPr>
          <p:nvPr/>
        </p:nvCxnSpPr>
        <p:spPr>
          <a:xfrm flipV="1">
            <a:off x="3648545" y="5514201"/>
            <a:ext cx="70731" cy="721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AF54027E-CCD4-F16B-2FC0-F9A357C61A92}"/>
              </a:ext>
            </a:extLst>
          </p:cNvPr>
          <p:cNvSpPr/>
          <p:nvPr/>
        </p:nvSpPr>
        <p:spPr>
          <a:xfrm>
            <a:off x="2974544" y="1430306"/>
            <a:ext cx="1438275" cy="4762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dirty="0"/>
              <a:t>Data is retrieved from the Firestore table</a:t>
            </a:r>
          </a:p>
        </p:txBody>
      </p:sp>
      <p:cxnSp>
        <p:nvCxnSpPr>
          <p:cNvPr id="25" name="Straight Arrow Connector 24">
            <a:extLst>
              <a:ext uri="{FF2B5EF4-FFF2-40B4-BE49-F238E27FC236}">
                <a16:creationId xmlns:a16="http://schemas.microsoft.com/office/drawing/2014/main" id="{2E5D435C-F49E-B040-DA73-B90A0C8DAB18}"/>
              </a:ext>
            </a:extLst>
          </p:cNvPr>
          <p:cNvCxnSpPr/>
          <p:nvPr/>
        </p:nvCxnSpPr>
        <p:spPr>
          <a:xfrm flipH="1">
            <a:off x="3552825" y="1909041"/>
            <a:ext cx="66675" cy="14056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8" name="Picture 27">
            <a:extLst>
              <a:ext uri="{FF2B5EF4-FFF2-40B4-BE49-F238E27FC236}">
                <a16:creationId xmlns:a16="http://schemas.microsoft.com/office/drawing/2014/main" id="{1440923B-7E02-2D4D-61B3-F7108ADEA5AB}"/>
              </a:ext>
            </a:extLst>
          </p:cNvPr>
          <p:cNvPicPr>
            <a:picLocks noChangeAspect="1"/>
          </p:cNvPicPr>
          <p:nvPr/>
        </p:nvPicPr>
        <p:blipFill>
          <a:blip r:embed="rId2"/>
          <a:stretch>
            <a:fillRect/>
          </a:stretch>
        </p:blipFill>
        <p:spPr>
          <a:xfrm>
            <a:off x="5071378" y="1952624"/>
            <a:ext cx="2027976" cy="4226849"/>
          </a:xfrm>
          <a:prstGeom prst="rect">
            <a:avLst/>
          </a:prstGeom>
        </p:spPr>
      </p:pic>
      <p:sp>
        <p:nvSpPr>
          <p:cNvPr id="29" name="TextBox 28">
            <a:extLst>
              <a:ext uri="{FF2B5EF4-FFF2-40B4-BE49-F238E27FC236}">
                <a16:creationId xmlns:a16="http://schemas.microsoft.com/office/drawing/2014/main" id="{4C03EE37-2287-4C96-C293-E16296FEDF50}"/>
              </a:ext>
            </a:extLst>
          </p:cNvPr>
          <p:cNvSpPr txBox="1"/>
          <p:nvPr/>
        </p:nvSpPr>
        <p:spPr>
          <a:xfrm>
            <a:off x="5333280" y="6196622"/>
            <a:ext cx="1552575" cy="553998"/>
          </a:xfrm>
          <a:prstGeom prst="rect">
            <a:avLst/>
          </a:prstGeom>
          <a:noFill/>
        </p:spPr>
        <p:txBody>
          <a:bodyPr wrap="square" rtlCol="0">
            <a:spAutoFit/>
          </a:bodyPr>
          <a:lstStyle/>
          <a:p>
            <a:r>
              <a:rPr lang="en-AU" sz="1000" dirty="0"/>
              <a:t>A user can navigate to the Search page to find hazards in other areas</a:t>
            </a:r>
          </a:p>
        </p:txBody>
      </p:sp>
      <p:cxnSp>
        <p:nvCxnSpPr>
          <p:cNvPr id="31" name="Straight Arrow Connector 30">
            <a:extLst>
              <a:ext uri="{FF2B5EF4-FFF2-40B4-BE49-F238E27FC236}">
                <a16:creationId xmlns:a16="http://schemas.microsoft.com/office/drawing/2014/main" id="{196770D0-BAD2-B2B4-E5AD-BC8CCF70BA15}"/>
              </a:ext>
            </a:extLst>
          </p:cNvPr>
          <p:cNvCxnSpPr/>
          <p:nvPr/>
        </p:nvCxnSpPr>
        <p:spPr>
          <a:xfrm flipV="1">
            <a:off x="5857875" y="5961876"/>
            <a:ext cx="0" cy="27362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pic>
        <p:nvPicPr>
          <p:cNvPr id="34" name="Picture 33">
            <a:extLst>
              <a:ext uri="{FF2B5EF4-FFF2-40B4-BE49-F238E27FC236}">
                <a16:creationId xmlns:a16="http://schemas.microsoft.com/office/drawing/2014/main" id="{733BC382-83CB-BFFF-7882-98EC68DAFBB2}"/>
              </a:ext>
            </a:extLst>
          </p:cNvPr>
          <p:cNvPicPr>
            <a:picLocks noChangeAspect="1"/>
          </p:cNvPicPr>
          <p:nvPr/>
        </p:nvPicPr>
        <p:blipFill>
          <a:blip r:embed="rId4"/>
          <a:stretch>
            <a:fillRect/>
          </a:stretch>
        </p:blipFill>
        <p:spPr>
          <a:xfrm>
            <a:off x="7442254" y="1964424"/>
            <a:ext cx="2027976" cy="4226089"/>
          </a:xfrm>
          <a:prstGeom prst="rect">
            <a:avLst/>
          </a:prstGeom>
        </p:spPr>
      </p:pic>
      <p:sp>
        <p:nvSpPr>
          <p:cNvPr id="35" name="TextBox 34">
            <a:extLst>
              <a:ext uri="{FF2B5EF4-FFF2-40B4-BE49-F238E27FC236}">
                <a16:creationId xmlns:a16="http://schemas.microsoft.com/office/drawing/2014/main" id="{A58FE050-540F-1FA4-5FBF-D7A2BAE38526}"/>
              </a:ext>
            </a:extLst>
          </p:cNvPr>
          <p:cNvSpPr txBox="1"/>
          <p:nvPr/>
        </p:nvSpPr>
        <p:spPr>
          <a:xfrm>
            <a:off x="7623229" y="1424284"/>
            <a:ext cx="1617410" cy="553998"/>
          </a:xfrm>
          <a:prstGeom prst="rect">
            <a:avLst/>
          </a:prstGeom>
          <a:noFill/>
        </p:spPr>
        <p:txBody>
          <a:bodyPr wrap="square" rtlCol="0">
            <a:spAutoFit/>
          </a:bodyPr>
          <a:lstStyle/>
          <a:p>
            <a:r>
              <a:rPr lang="en-AU" sz="1000" dirty="0"/>
              <a:t>A user can search any area they like to see if any hazards are in the area</a:t>
            </a:r>
          </a:p>
        </p:txBody>
      </p:sp>
      <p:cxnSp>
        <p:nvCxnSpPr>
          <p:cNvPr id="37" name="Straight Arrow Connector 36">
            <a:extLst>
              <a:ext uri="{FF2B5EF4-FFF2-40B4-BE49-F238E27FC236}">
                <a16:creationId xmlns:a16="http://schemas.microsoft.com/office/drawing/2014/main" id="{0D0A890C-A775-4CCC-598C-6F79A40F9135}"/>
              </a:ext>
            </a:extLst>
          </p:cNvPr>
          <p:cNvCxnSpPr/>
          <p:nvPr/>
        </p:nvCxnSpPr>
        <p:spPr>
          <a:xfrm flipH="1">
            <a:off x="8284296" y="1906556"/>
            <a:ext cx="180975" cy="7053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Oval 37">
            <a:extLst>
              <a:ext uri="{FF2B5EF4-FFF2-40B4-BE49-F238E27FC236}">
                <a16:creationId xmlns:a16="http://schemas.microsoft.com/office/drawing/2014/main" id="{744F198B-C3AC-257F-B8B9-268D987849F5}"/>
              </a:ext>
            </a:extLst>
          </p:cNvPr>
          <p:cNvSpPr/>
          <p:nvPr/>
        </p:nvSpPr>
        <p:spPr>
          <a:xfrm>
            <a:off x="8080792" y="4903827"/>
            <a:ext cx="395288" cy="36195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9" name="TextBox 38">
            <a:extLst>
              <a:ext uri="{FF2B5EF4-FFF2-40B4-BE49-F238E27FC236}">
                <a16:creationId xmlns:a16="http://schemas.microsoft.com/office/drawing/2014/main" id="{6F499D87-2B5E-993E-C4EE-711A0D485B3F}"/>
              </a:ext>
            </a:extLst>
          </p:cNvPr>
          <p:cNvSpPr txBox="1"/>
          <p:nvPr/>
        </p:nvSpPr>
        <p:spPr>
          <a:xfrm>
            <a:off x="7569356" y="6205131"/>
            <a:ext cx="1822693" cy="553998"/>
          </a:xfrm>
          <a:prstGeom prst="rect">
            <a:avLst/>
          </a:prstGeom>
          <a:noFill/>
        </p:spPr>
        <p:txBody>
          <a:bodyPr wrap="square" rtlCol="0">
            <a:spAutoFit/>
          </a:bodyPr>
          <a:lstStyle/>
          <a:p>
            <a:r>
              <a:rPr lang="en-AU" sz="1000" dirty="0"/>
              <a:t>A user can identify a hazard on the map indicated by the droplet “flood”</a:t>
            </a:r>
          </a:p>
        </p:txBody>
      </p:sp>
      <p:cxnSp>
        <p:nvCxnSpPr>
          <p:cNvPr id="41" name="Straight Arrow Connector 40">
            <a:extLst>
              <a:ext uri="{FF2B5EF4-FFF2-40B4-BE49-F238E27FC236}">
                <a16:creationId xmlns:a16="http://schemas.microsoft.com/office/drawing/2014/main" id="{71E7E364-F612-0CEE-8942-C58F9654B2D2}"/>
              </a:ext>
            </a:extLst>
          </p:cNvPr>
          <p:cNvCxnSpPr>
            <a:endCxn id="38" idx="4"/>
          </p:cNvCxnSpPr>
          <p:nvPr/>
        </p:nvCxnSpPr>
        <p:spPr>
          <a:xfrm flipV="1">
            <a:off x="8247480" y="5265777"/>
            <a:ext cx="30956" cy="9784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3" name="Picture 42">
            <a:extLst>
              <a:ext uri="{FF2B5EF4-FFF2-40B4-BE49-F238E27FC236}">
                <a16:creationId xmlns:a16="http://schemas.microsoft.com/office/drawing/2014/main" id="{D1560A5B-77E5-677F-4C25-7AC9CC5A78AE}"/>
              </a:ext>
            </a:extLst>
          </p:cNvPr>
          <p:cNvPicPr>
            <a:picLocks noChangeAspect="1"/>
          </p:cNvPicPr>
          <p:nvPr/>
        </p:nvPicPr>
        <p:blipFill>
          <a:blip r:embed="rId5"/>
          <a:stretch>
            <a:fillRect/>
          </a:stretch>
        </p:blipFill>
        <p:spPr>
          <a:xfrm>
            <a:off x="9775030" y="1962150"/>
            <a:ext cx="2009980" cy="4230638"/>
          </a:xfrm>
          <a:prstGeom prst="rect">
            <a:avLst/>
          </a:prstGeom>
        </p:spPr>
      </p:pic>
      <p:sp>
        <p:nvSpPr>
          <p:cNvPr id="44" name="TextBox 43">
            <a:extLst>
              <a:ext uri="{FF2B5EF4-FFF2-40B4-BE49-F238E27FC236}">
                <a16:creationId xmlns:a16="http://schemas.microsoft.com/office/drawing/2014/main" id="{B024EE8A-4D89-BC6E-2932-9A9BDBCCA3B9}"/>
              </a:ext>
            </a:extLst>
          </p:cNvPr>
          <p:cNvSpPr txBox="1"/>
          <p:nvPr/>
        </p:nvSpPr>
        <p:spPr>
          <a:xfrm>
            <a:off x="9764514" y="1352558"/>
            <a:ext cx="2124075" cy="553998"/>
          </a:xfrm>
          <a:prstGeom prst="rect">
            <a:avLst/>
          </a:prstGeom>
          <a:noFill/>
        </p:spPr>
        <p:txBody>
          <a:bodyPr wrap="square" rtlCol="0">
            <a:spAutoFit/>
          </a:bodyPr>
          <a:lstStyle/>
          <a:p>
            <a:r>
              <a:rPr lang="en-AU" sz="1000" dirty="0"/>
              <a:t>A user can see the details attached to this hazard by selecting the droplet icon on the map</a:t>
            </a:r>
          </a:p>
        </p:txBody>
      </p:sp>
      <p:cxnSp>
        <p:nvCxnSpPr>
          <p:cNvPr id="46" name="Straight Arrow Connector 45">
            <a:extLst>
              <a:ext uri="{FF2B5EF4-FFF2-40B4-BE49-F238E27FC236}">
                <a16:creationId xmlns:a16="http://schemas.microsoft.com/office/drawing/2014/main" id="{1E0934C5-E86E-2A76-072C-2A75D56B892D}"/>
              </a:ext>
            </a:extLst>
          </p:cNvPr>
          <p:cNvCxnSpPr/>
          <p:nvPr/>
        </p:nvCxnSpPr>
        <p:spPr>
          <a:xfrm>
            <a:off x="10629900" y="1906556"/>
            <a:ext cx="0" cy="14652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A62D59F5-749A-F38E-BF5B-6299087C07A5}"/>
              </a:ext>
            </a:extLst>
          </p:cNvPr>
          <p:cNvSpPr txBox="1"/>
          <p:nvPr/>
        </p:nvSpPr>
        <p:spPr>
          <a:xfrm>
            <a:off x="9619490" y="6244247"/>
            <a:ext cx="2572510" cy="553998"/>
          </a:xfrm>
          <a:prstGeom prst="rect">
            <a:avLst/>
          </a:prstGeom>
          <a:noFill/>
        </p:spPr>
        <p:txBody>
          <a:bodyPr wrap="square" rtlCol="0">
            <a:spAutoFit/>
          </a:bodyPr>
          <a:lstStyle/>
          <a:p>
            <a:r>
              <a:rPr lang="en-AU" sz="1000" dirty="0"/>
              <a:t>A user can identify that “The Lakes Way is closed” based on the description and can find an alternative route before leaving</a:t>
            </a:r>
          </a:p>
        </p:txBody>
      </p:sp>
      <p:cxnSp>
        <p:nvCxnSpPr>
          <p:cNvPr id="49" name="Straight Arrow Connector 48">
            <a:extLst>
              <a:ext uri="{FF2B5EF4-FFF2-40B4-BE49-F238E27FC236}">
                <a16:creationId xmlns:a16="http://schemas.microsoft.com/office/drawing/2014/main" id="{9674AA0B-0329-8175-93CD-591AE0C9E0D9}"/>
              </a:ext>
            </a:extLst>
          </p:cNvPr>
          <p:cNvCxnSpPr/>
          <p:nvPr/>
        </p:nvCxnSpPr>
        <p:spPr>
          <a:xfrm flipH="1" flipV="1">
            <a:off x="10277475" y="4400550"/>
            <a:ext cx="352425" cy="18436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35938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TotalTime>
  <Words>279</Words>
  <Application>Microsoft Office PowerPoint</Application>
  <PresentationFormat>Widescreen</PresentationFormat>
  <Paragraphs>22</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Aptos</vt:lpstr>
      <vt:lpstr>Aptos Display</vt:lpstr>
      <vt:lpstr>Arial</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RICHARD AVERY</dc:creator>
  <cp:lastModifiedBy>RICHARD AVERY</cp:lastModifiedBy>
  <cp:revision>1</cp:revision>
  <dcterms:created xsi:type="dcterms:W3CDTF">2025-05-29T03:37:28Z</dcterms:created>
  <dcterms:modified xsi:type="dcterms:W3CDTF">2025-05-29T05:29:11Z</dcterms:modified>
</cp:coreProperties>
</file>